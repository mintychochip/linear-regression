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Brute-Force Linear Regression</a:t>
            </a:r>
            <a:br/>
            <a:r>
              <a:t>on Army Training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5A800"/>
                </a:solidFill>
                <a:latin typeface="Calibri"/>
              </a:rPr>
              <a:t>Log-Scale Grid Search  |  No Calculus  |  No Matrices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Noah Gallego,  Gerardo Gomez,  Justin Lo,  Juancarlos Sandoval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AABB"/>
                </a:solidFill>
                <a:latin typeface="Calibri"/>
              </a:rPr>
              <a:t>CSUB  --  Computer Science &amp; Engineering  --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Dataset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29184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666666"/>
                </a:solidFill>
                <a:latin typeface="Calibri"/>
              </a:rPr>
              <a:t>X  (predictor)</a:t>
            </a:r>
          </a:p>
          <a:p>
            <a:r>
              <a:rPr sz="1700" b="1">
                <a:solidFill>
                  <a:srgbClr val="002855"/>
                </a:solidFill>
                <a:latin typeface="Calibri"/>
              </a:rPr>
              <a:t>Height: 64 - 79 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59" y="1188720"/>
            <a:ext cx="329184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666666"/>
                </a:solidFill>
                <a:latin typeface="Calibri"/>
              </a:rPr>
              <a:t>Y  (response)</a:t>
            </a:r>
          </a:p>
          <a:p>
            <a:r>
              <a:rPr sz="1700" b="1">
                <a:solidFill>
                  <a:srgbClr val="002855"/>
                </a:solidFill>
                <a:latin typeface="Calibri"/>
              </a:rPr>
              <a:t>Weight: 135 - 275 lbs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188720"/>
            <a:ext cx="329184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666666"/>
                </a:solidFill>
                <a:latin typeface="Calibri"/>
              </a:rPr>
              <a:t>Training size</a:t>
            </a:r>
          </a:p>
          <a:p>
            <a:r>
              <a:rPr sz="1700" b="1">
                <a:solidFill>
                  <a:srgbClr val="002855"/>
                </a:solidFill>
                <a:latin typeface="Calibri"/>
              </a:rPr>
              <a:t>n = 50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2560320"/>
            <a:ext cx="7315200" cy="64008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5A800"/>
                </a:solidFill>
                <a:latin typeface="Consolas"/>
              </a:rPr>
              <a:t>Goal:  y-hat = B * height + A      (minimise SSE)</a:t>
            </a:r>
          </a:p>
        </p:txBody>
      </p:sp>
      <p:pic>
        <p:nvPicPr>
          <p:cNvPr id="8" name="Picture 7" descr="plot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3474720"/>
            <a:ext cx="73152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Objective: Minimise SSE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73152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5A800"/>
                </a:solidFill>
                <a:latin typeface="Consolas"/>
              </a:rPr>
              <a:t>SSE(B, A) = B^2*Sxx + A^2*n + Syy + 2BA*Sx - 2B*Sxy - 2A*Sy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Pre-compute 5 sums once  --&gt;  evaluate any (B, A) in O(1)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0" y="32004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Sum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Sum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Sx = SUM(xi)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Sy = SUM(yi)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Sxx = SUM(xi^2)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Sxy = SUM(xi*yi)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Syy = SUM(yi^2)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8288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666666"/>
                </a:solidFill>
                <a:latin typeface="Calibri"/>
              </a:rPr>
              <a:t>No need to loop over 50 data points each time -- just plug B and A into this formula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Initial Search Range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64008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5A800"/>
                </a:solidFill>
                <a:latin typeface="Consolas"/>
              </a:rPr>
              <a:t>B (slope) in [ -100M , +100M 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029200" cy="64008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5A800"/>
                </a:solidFill>
                <a:latin typeface="Consolas"/>
              </a:rPr>
              <a:t>A (intercept) in [ -100M , +100M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We don't know where the answer is -- that's the whole point of brute force.</a:t>
            </a:r>
            <a:br/>
            <a:r>
              <a:t>So we just pick a range so big the answer is definitely inside.</a:t>
            </a:r>
            <a:br/>
            <a:br/>
            <a:r>
              <a:t>Each zoom shrinks the window 10x, so even starting at 100 million:</a:t>
            </a:r>
            <a:br/>
            <a:r>
              <a:t>  [-100M, 100M]  -&gt;  [-10M, 10M]  -&gt;  [-1M, 1M]  -&gt;  ...  -&gt;  [5.349, 5.359]</a:t>
            </a:r>
            <a:br/>
            <a:br/>
            <a:r>
              <a:t>The cost is just a few extra iterations (12 total instead of 6).</a:t>
            </a:r>
            <a:br/>
            <a:r>
              <a:t>Bigger range = safer. We also use 500 grid points per axis to keep resolution high.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Log-Zoom Grid Search</a:t>
            </a:r>
          </a:p>
        </p:txBody>
      </p:sp>
      <p:sp>
        <p:nvSpPr>
          <p:cNvPr id="4" name="Oval 3"/>
          <p:cNvSpPr/>
          <p:nvPr/>
        </p:nvSpPr>
        <p:spPr>
          <a:xfrm>
            <a:off x="1371600" y="137160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20" y="138988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Start with huge bounds:  B and A both in [-100M, +100M]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201168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20" y="20299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Place 500 test values per parameter, clustered near center of range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265176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20" y="267004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Try all 500 x 500 = 250,000 (B, A) pairs, keep the one with lowest SSE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3291839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20" y="3310127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Shrink window to 1/10th its size, centered on that winner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393192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20" y="39502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Repeat until B and A stop changing (&lt; 0.0005 between zooms)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6634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66666"/>
                </a:solidFill>
                <a:latin typeface="Consolas"/>
              </a:rPr>
              <a:t>B range each zoom:  [-100M, 100M] -&gt; [-10M, 10M] -&gt; ... -&gt; [-50, 50] -&gt; ... -&gt; [5.349, 5.359]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Why Logarithmic Spacing?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54864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5A800"/>
                </a:solidFill>
                <a:latin typeface="Consolas"/>
              </a:rPr>
              <a:t>Linear:  ... -50,  0,  50,  100 ...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029200" cy="54864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5A800"/>
                </a:solidFill>
                <a:latin typeface="Consolas"/>
              </a:rPr>
              <a:t>Log:  ... -0.01, 0, 0.01, 0.1, 50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1A2E"/>
                </a:solidFill>
                <a:latin typeface="Calibri"/>
              </a:rPr>
              <a:t>500 points across [-100M, 100M]</a:t>
            </a:r>
            <a:br/>
            <a:r>
              <a:t>Smallest gap = 400,000</a:t>
            </a:r>
            <a:br/>
            <a:r>
              <a:t>Can't tell 5 from 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2860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1A2E"/>
                </a:solidFill>
                <a:latin typeface="Calibri"/>
              </a:rPr>
              <a:t>500 points, but gaps vary:</a:t>
            </a:r>
            <a:br/>
            <a:r>
              <a:t>0.1 apart near center,</a:t>
            </a:r>
            <a:br/>
            <a:r>
              <a:t>millions apart near edges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How: pick 250 offsets spaced on a log scale from 0.000001 to 1.0</a:t>
            </a:r>
            <a:br/>
            <a:r>
              <a:t>Place points at  center + offset * half_range  and  center - offset * half_range</a:t>
            </a:r>
            <a:br/>
            <a:br/>
            <a:r>
              <a:t>Result: most points cluster tightly around the center, fewer spread out to the edges</a:t>
            </a:r>
            <a:br/>
            <a:r>
              <a:t>Combined with 10x zoom, each pass narrows in on the answer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Convergence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4241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645920"/>
                <a:gridCol w="2011680"/>
                <a:gridCol w="2011680"/>
                <a:gridCol w="201168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Zoom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B (slope)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A (intercept)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SSE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Delta B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Delta A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-6,781.49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4,496,525.79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34.041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-2,308.46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1,023,898.86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6.60e+01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4.47e+03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12.891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-705.878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63,922.30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2.11e+01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1.60e+03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6.476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-270.813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33,288.60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6.42e+00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4.35e+02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5.529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-199.129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31,376.34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9.46e-01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7.17e+01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...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...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...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...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...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...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5.353986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-186.9958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31,359.74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2.00e-04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1.36e-02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5.353957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-186.9936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31,359.74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2.95e-05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2.11e-03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12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5.353961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-186.9939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31,359.74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4.35e-06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2.79e-04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7D32"/>
                </a:solidFill>
                <a:latin typeface="Calibri"/>
              </a:rPr>
              <a:t>Both deltas &lt; 0.0005 at zoom 12  --&gt;  converged to 3 decimal places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Calibri"/>
              </a:rPr>
              <a:t>Why stop at 3?  B = 5.353 vs 5.354 changes a prediction by ~0.001 lbs -- more precision is pointless.</a:t>
            </a:r>
            <a:br/>
            <a:r>
              <a:t>We could keep zooming forever, but it wouldn't change the answer in any meaningful way.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Analytical vs. Numerical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029200" cy="64008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5A800"/>
                </a:solidFill>
                <a:latin typeface="Consolas"/>
              </a:rPr>
              <a:t>B = (n*Sxy - Sx*Sy) / (n*Sxx - Sx^2)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5029200" cy="64008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5A800"/>
                </a:solidFill>
                <a:latin typeface="Consolas"/>
              </a:rPr>
              <a:t>A = (Sy - B*Sx) / 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103120"/>
          <a:ext cx="50292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109728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Method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B (slope)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A (intercept)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SSE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Brute-Force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-186.994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31,359.740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Analytical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5.354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-186.994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31,359.740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Difference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0.000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0.000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0.000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plo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103120"/>
            <a:ext cx="5486400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3840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855"/>
                </a:solidFill>
                <a:latin typeface="Calibri"/>
              </a:rPr>
              <a:t>Lines overlap -- both methods give the same answer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Test Set Predictions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0" y="1188720"/>
          <a:ext cx="73152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011680"/>
                <a:gridCol w="2194560"/>
                <a:gridCol w="219456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#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Height (in)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Predicted (lbs)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Actual (lbs)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193.137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240.000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73.0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203.845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185.000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65.0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161.014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161.000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70.0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187.783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215.000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67.0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171.721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173.000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72.0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198.491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310.000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193.137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147.000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8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70.0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187.783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190.000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68.0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177.075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220.000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75.0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214.553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215.000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5A800"/>
                          </a:solidFill>
                          <a:latin typeface="Calibri"/>
                        </a:rPr>
                        <a:t>SSE (predicted vs actual) = 19,704.226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0028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0028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00285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1188720"/>
            <a:ext cx="7315200" cy="73152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5A800"/>
                </a:solidFill>
                <a:latin typeface="Consolas"/>
              </a:rPr>
              <a:t>y-hat  =  5.354 * height  -  186.994</a:t>
            </a:r>
          </a:p>
        </p:txBody>
      </p:sp>
      <p:sp>
        <p:nvSpPr>
          <p:cNvPr id="5" name="Oval 4"/>
          <p:cNvSpPr/>
          <p:nvPr/>
        </p:nvSpPr>
        <p:spPr>
          <a:xfrm>
            <a:off x="1828800" y="246888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24871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Grid search finds the same answer as the analytical formula</a:t>
            </a:r>
          </a:p>
        </p:txBody>
      </p:sp>
      <p:sp>
        <p:nvSpPr>
          <p:cNvPr id="7" name="Oval 6"/>
          <p:cNvSpPr/>
          <p:nvPr/>
        </p:nvSpPr>
        <p:spPr>
          <a:xfrm>
            <a:off x="1828800" y="310896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312724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Log-spacing clusters points near the center, so we find B ~ 5.35 even in [-5000, 5000]</a:t>
            </a:r>
          </a:p>
        </p:txBody>
      </p:sp>
      <p:sp>
        <p:nvSpPr>
          <p:cNvPr id="9" name="Oval 8"/>
          <p:cNvSpPr/>
          <p:nvPr/>
        </p:nvSpPr>
        <p:spPr>
          <a:xfrm>
            <a:off x="1828800" y="3749039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767327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Each zoom shrinks the window 10x, so 12 zooms = 10^12 x finer than where we started</a:t>
            </a:r>
          </a:p>
        </p:txBody>
      </p:sp>
      <p:sp>
        <p:nvSpPr>
          <p:cNvPr id="11" name="Oval 10"/>
          <p:cNvSpPr/>
          <p:nvPr/>
        </p:nvSpPr>
        <p:spPr>
          <a:xfrm>
            <a:off x="1828800" y="438912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44074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Stops automatically when B and A stop changing to 3 decimal places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